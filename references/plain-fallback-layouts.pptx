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0.416</c:v>
                </c:pt>
                <c:pt idx="1">
                  <c:v>0.375</c:v>
                </c:pt>
                <c:pt idx="2">
                  <c:v>0.397</c:v>
                </c:pt>
                <c:pt idx="3">
                  <c:v>0.391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0.347</c:v>
                </c:pt>
                <c:pt idx="1">
                  <c:v>0.344</c:v>
                </c:pt>
                <c:pt idx="2">
                  <c:v>0.359</c:v>
                </c:pt>
                <c:pt idx="3">
                  <c:v>0.344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0.237</c:v>
                </c:pt>
                <c:pt idx="1">
                  <c:v>0.281</c:v>
                </c:pt>
                <c:pt idx="2">
                  <c:v>0.244</c:v>
                </c:pt>
                <c:pt idx="3">
                  <c:v>0.265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Adoption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</c:formatCode>
                <c:ptCount val="4"/>
                <c:pt idx="0">
                  <c:v>24</c:v>
                </c:pt>
                <c:pt idx="1">
                  <c:v>27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Online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0.416</c:v>
                </c:pt>
                <c:pt idx="1">
                  <c:v>0.375</c:v>
                </c:pt>
                <c:pt idx="2">
                  <c:v>0.397</c:v>
                </c:pt>
                <c:pt idx="3">
                  <c:v>0.391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0.347</c:v>
                </c:pt>
                <c:pt idx="1">
                  <c:v>0.344</c:v>
                </c:pt>
                <c:pt idx="2">
                  <c:v>0.359</c:v>
                </c:pt>
                <c:pt idx="3">
                  <c:v>0.344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Partner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0.237</c:v>
                </c:pt>
                <c:pt idx="1">
                  <c:v>0.281</c:v>
                </c:pt>
                <c:pt idx="2">
                  <c:v>0.244</c:v>
                </c:pt>
                <c:pt idx="3">
                  <c:v>0.265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Supplier portal</c:v>
                </c:pt>
                <c:pt idx="1">
                  <c:v>Mobile approvals</c:v>
                </c:pt>
                <c:pt idx="2">
                  <c:v>Spend analytics</c:v>
                </c:pt>
                <c:pt idx="3">
                  <c:v>Forecasting</c:v>
                </c:pt>
                <c:pt idx="4">
                  <c:v>Partner API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92</c:v>
                </c:pt>
                <c:pt idx="1">
                  <c:v>78</c:v>
                </c:pt>
                <c:pt idx="2">
                  <c:v>63</c:v>
                </c:pt>
                <c:pt idx="3">
                  <c:v>51</c:v>
                </c:pt>
                <c:pt idx="4">
                  <c:v>39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eparator>
</c:separator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0.31</c:v>
                </c:pt>
                <c:pt idx="2">
                  <c:v>0.17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</c:v>
                </c:pt>
              </c:strCache>
            </c:strRef>
          </c:tx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eparator>
</c:separator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</c:v>
                </c:pt>
                <c:pt idx="1">
                  <c:v>0.31</c:v>
                </c:pt>
                <c:pt idx="2">
                  <c:v>0.17</c:v>
                </c:pt>
              </c:numCache>
            </c:numRef>
          </c:val>
        </c:ser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400"/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118</c:v>
                </c:pt>
                <c:pt idx="1">
                  <c:v>124</c:v>
                </c:pt>
                <c:pt idx="2">
                  <c:v>131</c:v>
                </c:pt>
                <c:pt idx="3">
                  <c:v>140</c:v>
                </c:pt>
                <c:pt idx="4">
                  <c:v>146</c:v>
                </c:pt>
                <c:pt idx="5">
                  <c:v>155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120</c:v>
                </c:pt>
                <c:pt idx="1">
                  <c:v>125</c:v>
                </c:pt>
                <c:pt idx="2">
                  <c:v>130</c:v>
                </c:pt>
                <c:pt idx="3">
                  <c:v>135</c:v>
                </c:pt>
                <c:pt idx="4">
                  <c:v>140</c:v>
                </c:pt>
                <c:pt idx="5">
                  <c:v>145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2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70</c:v>
                </c:pt>
                <c:pt idx="1">
                  <c:v>72</c:v>
                </c:pt>
                <c:pt idx="2">
                  <c:v>75</c:v>
                </c:pt>
                <c:pt idx="3">
                  <c:v>79</c:v>
                </c:pt>
                <c:pt idx="4">
                  <c:v>81</c:v>
                </c:pt>
                <c:pt idx="5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Professional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33</c:v>
                </c:pt>
                <c:pt idx="1">
                  <c:v>35</c:v>
                </c:pt>
                <c:pt idx="2">
                  <c:v>37</c:v>
                </c:pt>
                <c:pt idx="3">
                  <c:v>40</c:v>
                </c:pt>
                <c:pt idx="4">
                  <c:v>42</c:v>
                </c:pt>
                <c:pt idx="5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Sheet1!$D$2:$D$7</c:f>
              <c:numCache>
                <c:formatCode>0</c:formatCode>
                <c:ptCount val="6"/>
                <c:pt idx="0">
                  <c:v>15</c:v>
                </c:pt>
                <c:pt idx="1">
                  <c:v>17</c:v>
                </c:pt>
                <c:pt idx="2">
                  <c:v>19</c:v>
                </c:pt>
                <c:pt idx="3">
                  <c:v>21</c:v>
                </c:pt>
                <c:pt idx="4">
                  <c:v>23</c:v>
                </c:pt>
                <c:pt idx="5">
                  <c:v>25</c:v>
                </c:pt>
              </c:numCache>
            </c:numRef>
          </c:val>
        </c:ser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b"/>
      <c:layout/>
      <c:overlay val="0"/>
    </c:legend>
    <c:plotVisOnly val="1"/>
    <c:dispBlanksAs val="zero"/>
    <c:showDLblsOverMax val="0"/>
  </c:chart>
  <c:txPr>
    <a:bodyPr/>
    <a:lstStyle/>
    <a:p>
      <a:pPr>
        <a:defRPr sz="1400"/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0</c:formatCode>
                <c:ptCount val="6"/>
                <c:pt idx="0">
                  <c:v>118</c:v>
                </c:pt>
                <c:pt idx="1">
                  <c:v>124</c:v>
                </c:pt>
                <c:pt idx="2">
                  <c:v>131</c:v>
                </c:pt>
                <c:pt idx="3">
                  <c:v>140</c:v>
                </c:pt>
                <c:pt idx="4">
                  <c:v>146</c:v>
                </c:pt>
                <c:pt idx="5">
                  <c:v>155</c:v>
                </c:pt>
              </c:numCache>
            </c:numRef>
          </c:val>
        </c:ser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0</c:formatCode>
                <c:ptCount val="6"/>
                <c:pt idx="0">
                  <c:v>120</c:v>
                </c:pt>
                <c:pt idx="1">
                  <c:v>125</c:v>
                </c:pt>
                <c:pt idx="2">
                  <c:v>130</c:v>
                </c:pt>
                <c:pt idx="3">
                  <c:v>135</c:v>
                </c:pt>
                <c:pt idx="4">
                  <c:v>140</c:v>
                </c:pt>
                <c:pt idx="5">
                  <c:v>145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2025 profit</c:v>
                </c:pt>
                <c:pt idx="1">
                  <c:v>Volume</c:v>
                </c:pt>
                <c:pt idx="2">
                  <c:v>Price</c:v>
                </c:pt>
                <c:pt idx="3">
                  <c:v>Costs</c:v>
                </c:pt>
                <c:pt idx="4">
                  <c:v>2026 profit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0.0</c:v>
                </c:pt>
                <c:pt idx="1">
                  <c:v>80.0</c:v>
                </c:pt>
                <c:pt idx="2">
                  <c:v>95.0</c:v>
                </c:pt>
                <c:pt idx="3">
                  <c:v>97.0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dLbls>
            <c:numFmt formatCode="#,##0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2025 profit</c:v>
                </c:pt>
                <c:pt idx="1">
                  <c:v>Volume</c:v>
                </c:pt>
                <c:pt idx="2">
                  <c:v>Price</c:v>
                </c:pt>
                <c:pt idx="3">
                  <c:v>Costs</c:v>
                </c:pt>
                <c:pt idx="4">
                  <c:v>2026 profit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80.0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97.0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dLbls>
            <c:numFmt formatCode="+#,##0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2025 profit</c:v>
                </c:pt>
                <c:pt idx="1">
                  <c:v>Volume</c:v>
                </c:pt>
                <c:pt idx="2">
                  <c:v>Price</c:v>
                </c:pt>
                <c:pt idx="3">
                  <c:v>Costs</c:v>
                </c:pt>
                <c:pt idx="4">
                  <c:v>2026 profit</c:v>
                </c:pt>
              </c:strCache>
            </c:strRef>
          </c:cat>
          <c:val>
            <c:numRef>
              <c:f>Sheet1!$D$2:$D$6</c:f>
              <c:numCache>
                <c:formatCode>0</c:formatCode>
                <c:ptCount val="5"/>
                <c:pt idx="0">
                  <c:v>0.0</c:v>
                </c:pt>
                <c:pt idx="1">
                  <c:v>15.0</c:v>
                </c:pt>
                <c:pt idx="2">
                  <c:v>10.0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dLbls>
            <c:numFmt formatCode="-#,##0;;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GB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2025 profit</c:v>
                </c:pt>
                <c:pt idx="1">
                  <c:v>Volume</c:v>
                </c:pt>
                <c:pt idx="2">
                  <c:v>Price</c:v>
                </c:pt>
                <c:pt idx="3">
                  <c:v>Costs</c:v>
                </c:pt>
                <c:pt idx="4">
                  <c:v>2026 profit</c:v>
                </c:pt>
              </c:strCache>
            </c:strRef>
          </c:cat>
          <c:val>
            <c:numRef>
              <c:f>Sheet1!$E$2:$E$6</c:f>
              <c:numCache>
                <c:formatCode>0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8.0</c:v>
                </c:pt>
                <c:pt idx="4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legendEntry>
        <c:idx val="0"/>
        <c:delete val="1"/>
      </c:legendEntry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xVal>
            <c:numRef>
              <c:f>Sheet1!$A$2:$A$8</c:f>
              <c:numCache>
                <c:formatCode>0</c:formatCode>
                <c:ptCount val="7"/>
                <c:pt idx="0">
                  <c:v>82</c:v>
                </c:pt>
                <c:pt idx="1">
                  <c:v>88</c:v>
                </c:pt>
                <c:pt idx="2">
                  <c:v>94</c:v>
                </c:pt>
                <c:pt idx="3">
                  <c:v>97</c:v>
                </c:pt>
                <c:pt idx="4">
                  <c:v>103</c:v>
                </c:pt>
                <c:pt idx="5">
                  <c:v>108</c:v>
                </c:pt>
                <c:pt idx="6">
                  <c:v>115</c:v>
                </c:pt>
              </c:numCache>
            </c:numRef>
          </c:xVal>
          <c:yVal>
            <c:numRef>
              <c:f>Sheet1!$B$2:$B$8</c:f>
              <c:numCache>
                <c:formatCode>0</c:formatCode>
                <c:ptCount val="7"/>
                <c:pt idx="0">
                  <c:v>61</c:v>
                </c:pt>
                <c:pt idx="1">
                  <c:v>66</c:v>
                </c:pt>
                <c:pt idx="2">
                  <c:v>70</c:v>
                </c:pt>
                <c:pt idx="3">
                  <c:v>64</c:v>
                </c:pt>
                <c:pt idx="4">
                  <c:v>74</c:v>
                </c:pt>
                <c:pt idx="5">
                  <c:v>72</c:v>
                </c:pt>
                <c:pt idx="6">
                  <c:v>79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2"/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Markets</c:v>
                </c:pt>
              </c:strCache>
            </c:strRef>
          </c:tx>
          <c:invertIfNegative val="0"/>
          <c:xVal>
            <c:numRef>
              <c:f>Sheet1!$A$2:$A$5</c:f>
              <c:numCache>
                <c:formatCode>0</c:formatCode>
                <c:ptCount val="4"/>
                <c:pt idx="0">
                  <c:v>4</c:v>
                </c:pt>
                <c:pt idx="1">
                  <c:v>7</c:v>
                </c:pt>
                <c:pt idx="2">
                  <c:v>11</c:v>
                </c:pt>
                <c:pt idx="3">
                  <c:v>15</c:v>
                </c:pt>
              </c:numCache>
            </c:numRef>
          </c:xVal>
          <c:yVal>
            <c:numRef>
              <c:f>Sheet1!$B$2:$B$5</c:f>
              <c:numCache>
                <c:formatCode>0</c:formatCode>
                <c:ptCount val="4"/>
                <c:pt idx="0">
                  <c:v>12</c:v>
                </c:pt>
                <c:pt idx="1">
                  <c:v>22</c:v>
                </c:pt>
                <c:pt idx="2">
                  <c:v>15</c:v>
                </c:pt>
                <c:pt idx="3">
                  <c:v>30</c:v>
                </c:pt>
              </c:numCache>
            </c:numRef>
          </c:yVal>
          <c:bubbleSize>
            <c:numRef>
              <c:f>Sheet1!$C$2:$C$5</c:f>
              <c:numCache>
                <c:formatCode>0</c:formatCode>
                <c:ptCount val="4"/>
                <c:pt idx="0">
                  <c:v>14</c:v>
                </c:pt>
                <c:pt idx="1">
                  <c:v>24</c:v>
                </c:pt>
                <c:pt idx="2">
                  <c:v>18</c:v>
                </c:pt>
                <c:pt idx="3">
                  <c:v>30</c:v>
                </c:pt>
              </c:numCache>
            </c:numRef>
          </c:bubbleSize>
          <c:bubble3D val="0"/>
        </c:ser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Leads</c:v>
                </c:pt>
                <c:pt idx="1">
                  <c:v>Qualified</c:v>
                </c:pt>
                <c:pt idx="2">
                  <c:v>Proposal</c:v>
                </c:pt>
                <c:pt idx="3">
                  <c:v>Negotiation</c:v>
                </c:pt>
                <c:pt idx="4">
                  <c:v>Won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1200</c:v>
                </c:pt>
                <c:pt idx="1">
                  <c:v>640</c:v>
                </c:pt>
                <c:pt idx="2">
                  <c:v>310</c:v>
                </c:pt>
                <c:pt idx="3">
                  <c:v>140</c:v>
                </c:pt>
                <c:pt idx="4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2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36</c:v>
                </c:pt>
                <c:pt idx="2">
                  <c:v>31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dLbls>
            <c:numFmt formatCode="#,##0" sourceLinked="0"/>
            <c:spPr>
              <a:noFill/>
              <a:ln>
                <a:noFill/>
              </a:ln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Central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35</c:v>
                </c:pt>
                <c:pt idx="1">
                  <c:v>33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737360"/>
            <a:ext cx="9601200" cy="173736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9601200" cy="1280160"/>
          </a:xfrm>
        </p:spPr>
        <p:txBody>
          <a:bodyPr/>
          <a:lstStyle>
            <a:lvl1pPr>
              <a:buNone/>
              <a:defRPr sz="2000"/>
            </a:lvl1pPr>
          </a:lstStyle>
          <a:p>
            <a:r>
              <a:rPr lang="en-GB"/>
              <a:t>Click to add subtitle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11094415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103120"/>
            <a:ext cx="9601200" cy="155448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794760"/>
            <a:ext cx="9601200" cy="1097280"/>
          </a:xfrm>
        </p:spPr>
        <p:txBody>
          <a:bodyPr/>
          <a:lstStyle>
            <a:lvl1pPr>
              <a:defRPr sz="20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541004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233008" y="1417320"/>
            <a:ext cx="541004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Heading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5410048" cy="548640"/>
          </a:xfrm>
        </p:spPr>
        <p:txBody>
          <a:bodyPr anchor="b"/>
          <a:lstStyle>
            <a:lvl1pPr>
              <a:buNone/>
              <a:defRPr sz="2000" b="1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48640" y="2103120"/>
            <a:ext cx="5410048" cy="39776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Heading 4"/>
          <p:cNvSpPr>
            <a:spLocks noGrp="1"/>
          </p:cNvSpPr>
          <p:nvPr>
            <p:ph type="body" idx="3"/>
          </p:nvPr>
        </p:nvSpPr>
        <p:spPr>
          <a:xfrm>
            <a:off x="6233008" y="1417320"/>
            <a:ext cx="5410048" cy="548640"/>
          </a:xfrm>
        </p:spPr>
        <p:txBody>
          <a:bodyPr anchor="b"/>
          <a:lstStyle>
            <a:lvl1pPr>
              <a:buNone/>
              <a:defRPr sz="2000" b="1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233008" y="2103120"/>
            <a:ext cx="5410048" cy="39776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3657600" cy="1371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60" y="411480"/>
            <a:ext cx="7162495" cy="566928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48640" y="1965960"/>
            <a:ext cx="3657600" cy="411480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  <a:lvl1pPr>
              <a:defRPr sz="16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3657600" cy="1371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80560" y="411480"/>
            <a:ext cx="7162495" cy="566928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48640" y="1965960"/>
            <a:ext cx="3657600" cy="411480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  <a:lvl1pPr>
              <a:defRPr sz="16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0" y="0"/>
            <a:ext cx="12191695" cy="420624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48640" y="4389120"/>
            <a:ext cx="9601200" cy="109728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548640" y="5486400"/>
            <a:ext cx="9601200" cy="640080"/>
          </a:xfrm>
        </p:spPr>
        <p:txBody>
          <a:bodyPr/>
          <a:lstStyle>
            <a:lvl1pPr>
              <a:buNone/>
              <a:defRPr sz="2000"/>
            </a:lvl1pPr>
          </a:lstStyle>
          <a:p>
            <a:r>
              <a:rPr lang="en-GB"/>
              <a:t>Click to add subtitle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itle Slide with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0" y="0"/>
            <a:ext cx="5852160" cy="6858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400800" y="1737360"/>
            <a:ext cx="5239512" cy="1737360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6400800" y="3657600"/>
            <a:ext cx="5239512" cy="1280160"/>
          </a:xfrm>
        </p:spPr>
        <p:txBody>
          <a:bodyPr/>
          <a:lstStyle>
            <a:lvl1pPr>
              <a:buNone/>
              <a:defRPr sz="2000"/>
            </a:lvl1pPr>
          </a:lstStyle>
          <a:p>
            <a:r>
              <a:rPr lang="en-GB"/>
              <a:t>Click to add subtitle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itle and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0" y="0"/>
            <a:ext cx="12191695" cy="493776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8640" y="5120640"/>
            <a:ext cx="11094415" cy="1005840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0160" y="1463040"/>
            <a:ext cx="9631375" cy="3291840"/>
          </a:xfrm>
        </p:spPr>
        <p:txBody>
          <a:bodyPr anchor="ctr"/>
          <a:lstStyle>
            <a:lvl1pPr algn="ctr">
              <a:defRPr sz="40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 1"/>
          <p:cNvSpPr>
            <a:spLocks noGrp="1"/>
          </p:cNvSpPr>
          <p:nvPr>
            <p:ph type="body" idx="1"/>
          </p:nvPr>
        </p:nvSpPr>
        <p:spPr>
          <a:xfrm>
            <a:off x="1280160" y="1280160"/>
            <a:ext cx="9631375" cy="338328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3" name="Attribution 2"/>
          <p:cNvSpPr>
            <a:spLocks noGrp="1"/>
          </p:cNvSpPr>
          <p:nvPr>
            <p:ph type="body" idx="2"/>
          </p:nvPr>
        </p:nvSpPr>
        <p:spPr>
          <a:xfrm>
            <a:off x="1280160" y="4846320"/>
            <a:ext cx="9631375" cy="822960"/>
          </a:xfr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>
          <a:xfrm>
            <a:off x="548640" y="548640"/>
            <a:ext cx="4206240" cy="57607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3" name="Quote 2"/>
          <p:cNvSpPr>
            <a:spLocks noGrp="1"/>
          </p:cNvSpPr>
          <p:nvPr>
            <p:ph type="body" idx="2"/>
          </p:nvPr>
        </p:nvSpPr>
        <p:spPr>
          <a:xfrm>
            <a:off x="5120640" y="1097280"/>
            <a:ext cx="6519672" cy="3566160"/>
          </a:xfrm>
        </p:spPr>
        <p:txBody>
          <a:bodyPr anchor="b"/>
          <a:lstStyle>
            <a:lvl1pPr>
              <a:buNone/>
              <a:defRPr sz="28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4" name="Attribution 3"/>
          <p:cNvSpPr>
            <a:spLocks noGrp="1"/>
          </p:cNvSpPr>
          <p:nvPr>
            <p:ph type="body" idx="3"/>
          </p:nvPr>
        </p:nvSpPr>
        <p:spPr>
          <a:xfrm>
            <a:off x="5120640" y="4846320"/>
            <a:ext cx="6519672" cy="822960"/>
          </a:xfrm>
        </p:spPr>
        <p:txBody>
          <a:bodyPr/>
          <a:lstStyle>
            <a:lvl1pPr>
              <a:buNone/>
              <a:defRPr sz="16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48640" y="1234440"/>
            <a:ext cx="11094415" cy="548640"/>
          </a:xfrm>
        </p:spPr>
        <p:txBody>
          <a:bodyPr/>
          <a:lstStyle>
            <a:lvl1pPr>
              <a:buNone/>
              <a:defRPr sz="18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48640" y="1920240"/>
            <a:ext cx="11094415" cy="416052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wo Content, N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360669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429658" y="1417320"/>
            <a:ext cx="7213397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wo Content, N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7213397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036357" y="1417320"/>
            <a:ext cx="360669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351525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338218" y="1417320"/>
            <a:ext cx="351525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>
          <a:xfrm>
            <a:off x="8127797" y="1417320"/>
            <a:ext cx="3515258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6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2602154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3379394" y="1417320"/>
            <a:ext cx="2602154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>
          <a:xfrm>
            <a:off x="6210148" y="1417320"/>
            <a:ext cx="2602154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9040901" y="1417320"/>
            <a:ext cx="2602154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Four Content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17320"/>
            <a:ext cx="5410048" cy="219456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233008" y="1417320"/>
            <a:ext cx="5410048" cy="219456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>
          <a:xfrm>
            <a:off x="548640" y="3886200"/>
            <a:ext cx="5410048" cy="219456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233008" y="3886200"/>
            <a:ext cx="5410048" cy="219456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Statistic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Statistic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4206240" cy="4663440"/>
          </a:xfrm>
        </p:spPr>
        <p:txBody>
          <a:bodyPr anchor="t"/>
          <a:lstStyle>
            <a:lvl1pPr>
              <a:buNone/>
              <a:defRPr sz="72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5029200" y="1417320"/>
            <a:ext cx="6613855" cy="4663440"/>
          </a:xfrm>
        </p:spPr>
        <p:txBody>
          <a:bodyPr/>
          <a:lstStyle/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hree 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Statistic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3515258" cy="4663440"/>
          </a:xfrm>
        </p:spPr>
        <p:txBody>
          <a:bodyPr anchor="ctr"/>
          <a:lstStyle>
            <a:lvl1pPr>
              <a:buNone/>
              <a:defRPr sz="5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4" name="Statistic 3"/>
          <p:cNvSpPr>
            <a:spLocks noGrp="1"/>
          </p:cNvSpPr>
          <p:nvPr>
            <p:ph type="body" idx="2"/>
          </p:nvPr>
        </p:nvSpPr>
        <p:spPr>
          <a:xfrm>
            <a:off x="4338218" y="1417320"/>
            <a:ext cx="3515258" cy="4663440"/>
          </a:xfrm>
        </p:spPr>
        <p:txBody>
          <a:bodyPr anchor="ctr"/>
          <a:lstStyle>
            <a:lvl1pPr>
              <a:buNone/>
              <a:defRPr sz="5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5" name="Statistic 4"/>
          <p:cNvSpPr>
            <a:spLocks noGrp="1"/>
          </p:cNvSpPr>
          <p:nvPr>
            <p:ph type="body" idx="3"/>
          </p:nvPr>
        </p:nvSpPr>
        <p:spPr>
          <a:xfrm>
            <a:off x="8127797" y="1417320"/>
            <a:ext cx="3515258" cy="4663440"/>
          </a:xfrm>
        </p:spPr>
        <p:txBody>
          <a:bodyPr anchor="ctr"/>
          <a:lstStyle>
            <a:lvl1pPr>
              <a:buNone/>
              <a:defRPr sz="5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6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Four 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Statistic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2567864" cy="4663440"/>
          </a:xfrm>
        </p:spPr>
        <p:txBody>
          <a:bodyPr anchor="ctr"/>
          <a:lstStyle>
            <a:lvl1pPr>
              <a:buNone/>
              <a:defRPr sz="4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4" name="Statistic 3"/>
          <p:cNvSpPr>
            <a:spLocks noGrp="1"/>
          </p:cNvSpPr>
          <p:nvPr>
            <p:ph type="body" idx="2"/>
          </p:nvPr>
        </p:nvSpPr>
        <p:spPr>
          <a:xfrm>
            <a:off x="3390824" y="1417320"/>
            <a:ext cx="2567864" cy="4663440"/>
          </a:xfrm>
        </p:spPr>
        <p:txBody>
          <a:bodyPr anchor="ctr"/>
          <a:lstStyle>
            <a:lvl1pPr>
              <a:buNone/>
              <a:defRPr sz="4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5" name="Statistic 4"/>
          <p:cNvSpPr>
            <a:spLocks noGrp="1"/>
          </p:cNvSpPr>
          <p:nvPr>
            <p:ph type="body" idx="3"/>
          </p:nvPr>
        </p:nvSpPr>
        <p:spPr>
          <a:xfrm>
            <a:off x="6233008" y="1417320"/>
            <a:ext cx="2567864" cy="4663440"/>
          </a:xfrm>
        </p:spPr>
        <p:txBody>
          <a:bodyPr anchor="ctr"/>
          <a:lstStyle>
            <a:lvl1pPr>
              <a:buNone/>
              <a:defRPr sz="4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6" name="Statistic 5"/>
          <p:cNvSpPr>
            <a:spLocks noGrp="1"/>
          </p:cNvSpPr>
          <p:nvPr>
            <p:ph type="body" idx="4"/>
          </p:nvPr>
        </p:nvSpPr>
        <p:spPr>
          <a:xfrm>
            <a:off x="9075191" y="1417320"/>
            <a:ext cx="2567864" cy="4663440"/>
          </a:xfrm>
        </p:spPr>
        <p:txBody>
          <a:bodyPr anchor="ctr"/>
          <a:lstStyle>
            <a:lvl1pPr>
              <a:buNone/>
              <a:defRPr sz="4400" b="1"/>
            </a:lvl1pPr>
            <a:lvl2pPr marL="0" indent="0">
              <a:buNone/>
              <a:defRPr sz="16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1417320"/>
            <a:ext cx="5410048" cy="34747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Caption 3"/>
          <p:cNvSpPr>
            <a:spLocks noGrp="1"/>
          </p:cNvSpPr>
          <p:nvPr>
            <p:ph type="body" idx="2"/>
          </p:nvPr>
        </p:nvSpPr>
        <p:spPr>
          <a:xfrm>
            <a:off x="548640" y="5029200"/>
            <a:ext cx="5410048" cy="10515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>
          <a:xfrm>
            <a:off x="6233008" y="1417320"/>
            <a:ext cx="5410048" cy="34747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Caption 5"/>
          <p:cNvSpPr>
            <a:spLocks noGrp="1"/>
          </p:cNvSpPr>
          <p:nvPr>
            <p:ph type="body" idx="4"/>
          </p:nvPr>
        </p:nvSpPr>
        <p:spPr>
          <a:xfrm>
            <a:off x="6233008" y="5029200"/>
            <a:ext cx="5410048" cy="10515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7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Four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1417320"/>
            <a:ext cx="2602154" cy="30175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Caption 3"/>
          <p:cNvSpPr>
            <a:spLocks noGrp="1"/>
          </p:cNvSpPr>
          <p:nvPr>
            <p:ph type="body" idx="2"/>
          </p:nvPr>
        </p:nvSpPr>
        <p:spPr>
          <a:xfrm>
            <a:off x="548640" y="4572000"/>
            <a:ext cx="2602154" cy="15087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>
          <a:xfrm>
            <a:off x="3379394" y="1417320"/>
            <a:ext cx="2602154" cy="30175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Caption 5"/>
          <p:cNvSpPr>
            <a:spLocks noGrp="1"/>
          </p:cNvSpPr>
          <p:nvPr>
            <p:ph type="body" idx="4"/>
          </p:nvPr>
        </p:nvSpPr>
        <p:spPr>
          <a:xfrm>
            <a:off x="3379394" y="4572000"/>
            <a:ext cx="2602154" cy="15087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5"/>
          </p:nvPr>
        </p:nvSpPr>
        <p:spPr>
          <a:xfrm>
            <a:off x="6210148" y="1417320"/>
            <a:ext cx="2602154" cy="30175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8" name="Caption 7"/>
          <p:cNvSpPr>
            <a:spLocks noGrp="1"/>
          </p:cNvSpPr>
          <p:nvPr>
            <p:ph type="body" idx="6"/>
          </p:nvPr>
        </p:nvSpPr>
        <p:spPr>
          <a:xfrm>
            <a:off x="6210148" y="4572000"/>
            <a:ext cx="2602154" cy="15087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7"/>
          </p:nvPr>
        </p:nvSpPr>
        <p:spPr>
          <a:xfrm>
            <a:off x="9040901" y="1417320"/>
            <a:ext cx="2602154" cy="30175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Caption 9"/>
          <p:cNvSpPr>
            <a:spLocks noGrp="1"/>
          </p:cNvSpPr>
          <p:nvPr>
            <p:ph type="body" idx="8"/>
          </p:nvPr>
        </p:nvSpPr>
        <p:spPr>
          <a:xfrm>
            <a:off x="9040901" y="4572000"/>
            <a:ext cx="2602154" cy="150876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11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Six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/>
          <a:lstStyle/>
          <a:p>
            <a:r>
              <a:rPr lang="en-GB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14173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Caption 3"/>
          <p:cNvSpPr>
            <a:spLocks noGrp="1"/>
          </p:cNvSpPr>
          <p:nvPr>
            <p:ph type="body" idx="2"/>
          </p:nvPr>
        </p:nvSpPr>
        <p:spPr>
          <a:xfrm>
            <a:off x="2240280" y="14173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>
          <a:xfrm>
            <a:off x="4338218" y="14173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6" name="Caption 5"/>
          <p:cNvSpPr>
            <a:spLocks noGrp="1"/>
          </p:cNvSpPr>
          <p:nvPr>
            <p:ph type="body" idx="4"/>
          </p:nvPr>
        </p:nvSpPr>
        <p:spPr>
          <a:xfrm>
            <a:off x="6029858" y="14173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5"/>
          </p:nvPr>
        </p:nvSpPr>
        <p:spPr>
          <a:xfrm>
            <a:off x="8127797" y="14173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8" name="Caption 7"/>
          <p:cNvSpPr>
            <a:spLocks noGrp="1"/>
          </p:cNvSpPr>
          <p:nvPr>
            <p:ph type="body" idx="6"/>
          </p:nvPr>
        </p:nvSpPr>
        <p:spPr>
          <a:xfrm>
            <a:off x="9819437" y="14173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7"/>
          </p:nvPr>
        </p:nvSpPr>
        <p:spPr>
          <a:xfrm>
            <a:off x="548640" y="39319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0" name="Caption 9"/>
          <p:cNvSpPr>
            <a:spLocks noGrp="1"/>
          </p:cNvSpPr>
          <p:nvPr>
            <p:ph type="body" idx="8"/>
          </p:nvPr>
        </p:nvSpPr>
        <p:spPr>
          <a:xfrm>
            <a:off x="2240280" y="39319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idx="9"/>
          </p:nvPr>
        </p:nvSpPr>
        <p:spPr>
          <a:xfrm>
            <a:off x="4338218" y="39319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2" name="Caption 11"/>
          <p:cNvSpPr>
            <a:spLocks noGrp="1"/>
          </p:cNvSpPr>
          <p:nvPr>
            <p:ph type="body" idx="13"/>
          </p:nvPr>
        </p:nvSpPr>
        <p:spPr>
          <a:xfrm>
            <a:off x="6029858" y="39319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4"/>
          </p:nvPr>
        </p:nvSpPr>
        <p:spPr>
          <a:xfrm>
            <a:off x="8127797" y="3931920"/>
            <a:ext cx="1554480" cy="210312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4" name="Caption 13"/>
          <p:cNvSpPr>
            <a:spLocks noGrp="1"/>
          </p:cNvSpPr>
          <p:nvPr>
            <p:ph type="body" idx="15"/>
          </p:nvPr>
        </p:nvSpPr>
        <p:spPr>
          <a:xfrm>
            <a:off x="9819437" y="3931920"/>
            <a:ext cx="1823618" cy="210312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</a:lstStyle>
          <a:p>
            <a:r>
              <a:rPr lang="en-GB"/>
              <a:t>Click to add text</a:t>
            </a:r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type="cust" preserve="1">
  <p:cSld name="Picture Lef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85455" y="411480"/>
            <a:ext cx="3657600" cy="1371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411480"/>
            <a:ext cx="7162495" cy="566928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7985455" y="1965960"/>
            <a:ext cx="3657600" cy="4114800"/>
          </a:xfrm>
        </p:spPr>
        <p:txBody>
          <a:bodyPr/>
          <a:lstStyle>
            <a:lvl1pPr>
              <a:buNone/>
              <a:defRPr sz="1400"/>
            </a:lvl1pPr>
            <a:lvl2pPr marL="0" indent="0">
              <a:buNone/>
              <a:defRPr sz="1200"/>
            </a:lvl2pPr>
            <a:lvl1pPr>
              <a:defRPr sz="1600"/>
            </a:lvl1pPr>
          </a:lstStyle>
          <a:p>
            <a:r>
              <a:rPr lang="en-GB"/>
              <a:t>Click to add text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548640" y="6355080"/>
            <a:ext cx="2560320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23360" y="6355080"/>
            <a:ext cx="4144975" cy="32004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half" idx="12"/>
          </p:nvPr>
        </p:nvSpPr>
        <p:spPr>
          <a:xfrm>
            <a:off x="9082735" y="6355080"/>
            <a:ext cx="2560320" cy="320040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Layout1" Type="http://schemas.openxmlformats.org/officeDocument/2006/relationships/slideLayout" Target="../slideLayouts/slideLayout1.xml"/><Relationship Id="rIdLayout10" Type="http://schemas.openxmlformats.org/officeDocument/2006/relationships/slideLayout" Target="../slideLayouts/slideLayout1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Layout13" Type="http://schemas.openxmlformats.org/officeDocument/2006/relationships/slideLayout" Target="../slideLayouts/slideLayout13.xml"/><Relationship Id="rIdLayout14" Type="http://schemas.openxmlformats.org/officeDocument/2006/relationships/slideLayout" Target="../slideLayouts/slideLayout14.xml"/><Relationship Id="rIdLayout15" Type="http://schemas.openxmlformats.org/officeDocument/2006/relationships/slideLayout" Target="../slideLayouts/slideLayout15.xml"/><Relationship Id="rIdLayout16" Type="http://schemas.openxmlformats.org/officeDocument/2006/relationships/slideLayout" Target="../slideLayouts/slideLayout16.xml"/><Relationship Id="rIdLayout17" Type="http://schemas.openxmlformats.org/officeDocument/2006/relationships/slideLayout" Target="../slideLayouts/slideLayout17.xml"/><Relationship Id="rIdLayout18" Type="http://schemas.openxmlformats.org/officeDocument/2006/relationships/slideLayout" Target="../slideLayouts/slideLayout18.xml"/><Relationship Id="rIdLayout19" Type="http://schemas.openxmlformats.org/officeDocument/2006/relationships/slideLayout" Target="../slideLayouts/slideLayout19.xml"/><Relationship Id="rIdLayout2" Type="http://schemas.openxmlformats.org/officeDocument/2006/relationships/slideLayout" Target="../slideLayouts/slideLayout2.xml"/><Relationship Id="rIdLayout20" Type="http://schemas.openxmlformats.org/officeDocument/2006/relationships/slideLayout" Target="../slideLayouts/slideLayout20.xml"/><Relationship Id="rIdLayout21" Type="http://schemas.openxmlformats.org/officeDocument/2006/relationships/slideLayout" Target="../slideLayouts/slideLayout21.xml"/><Relationship Id="rIdLayout22" Type="http://schemas.openxmlformats.org/officeDocument/2006/relationships/slideLayout" Target="../slideLayouts/slideLayout22.xml"/><Relationship Id="rIdLayout23" Type="http://schemas.openxmlformats.org/officeDocument/2006/relationships/slideLayout" Target="../slideLayouts/slideLayout23.xml"/><Relationship Id="rIdLayout24" Type="http://schemas.openxmlformats.org/officeDocument/2006/relationships/slideLayout" Target="../slideLayouts/slideLayout24.xml"/><Relationship Id="rIdLayout25" Type="http://schemas.openxmlformats.org/officeDocument/2006/relationships/slideLayout" Target="../slideLayouts/slideLayout25.xml"/><Relationship Id="rIdLayout26" Type="http://schemas.openxmlformats.org/officeDocument/2006/relationships/slideLayout" Target="../slideLayouts/slideLayout26.xml"/><Relationship Id="rIdLayout27" Type="http://schemas.openxmlformats.org/officeDocument/2006/relationships/slideLayout" Target="../slideLayouts/slideLayout27.xml"/><Relationship Id="rIdLayout28" Type="http://schemas.openxmlformats.org/officeDocument/2006/relationships/slideLayout" Target="../slideLayouts/slideLayout28.xml"/><Relationship Id="rIdLayout3" Type="http://schemas.openxmlformats.org/officeDocument/2006/relationships/slideLayout" Target="../slideLayouts/slideLayout3.xml"/><Relationship Id="rIdLayout4" Type="http://schemas.openxmlformats.org/officeDocument/2006/relationships/slideLayout" Target="../slideLayouts/slideLayout4.xml"/><Relationship Id="rIdLayout5" Type="http://schemas.openxmlformats.org/officeDocument/2006/relationships/slideLayout" Target="../slideLayouts/slideLayout5.xml"/><Relationship Id="rIdLayout6" Type="http://schemas.openxmlformats.org/officeDocument/2006/relationships/slideLayout" Target="../slideLayouts/slideLayout6.xml"/><Relationship Id="rIdLayout7" Type="http://schemas.openxmlformats.org/officeDocument/2006/relationships/slideLayout" Target="../slideLayouts/slideLayout7.xml"/><Relationship Id="rIdLayout8" Type="http://schemas.openxmlformats.org/officeDocument/2006/relationships/slideLayout" Target="../slideLayouts/slideLayout8.xml"/><Relationship Id="rIdLayout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415" cy="914400"/>
          </a:xfrm>
        </p:spPr>
        <p:txBody>
          <a:bodyPr anchor="b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17320"/>
            <a:ext cx="11094415" cy="4663440"/>
          </a:xfrm>
        </p:spPr>
        <p:txBody>
          <a:bodyPr/>
          <a:lstStyle/>
          <a:p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5080"/>
            <a:ext cx="2560320" cy="320040"/>
          </a:xfrm>
        </p:spPr>
        <p:txBody>
          <a:bodyPr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3360" y="6355080"/>
            <a:ext cx="4144975" cy="320040"/>
          </a:xfrm>
        </p:spPr>
        <p:txBody>
          <a:bodyPr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half" idx="4"/>
          </p:nvPr>
        </p:nvSpPr>
        <p:spPr>
          <a:xfrm>
            <a:off x="9082735" y="6355080"/>
            <a:ext cx="2560320" cy="320040"/>
          </a:xfr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  <p:sldLayoutId id="2147483659" r:id="rIdLayout11"/>
    <p:sldLayoutId id="2147483660" r:id="rIdLayout12"/>
    <p:sldLayoutId id="2147483661" r:id="rIdLayout13"/>
    <p:sldLayoutId id="2147483662" r:id="rIdLayout14"/>
    <p:sldLayoutId id="2147483663" r:id="rIdLayout15"/>
    <p:sldLayoutId id="2147483664" r:id="rIdLayout16"/>
    <p:sldLayoutId id="2147483665" r:id="rIdLayout17"/>
    <p:sldLayoutId id="2147483666" r:id="rIdLayout18"/>
    <p:sldLayoutId id="2147483667" r:id="rIdLayout19"/>
    <p:sldLayoutId id="2147483668" r:id="rIdLayout20"/>
    <p:sldLayoutId id="2147483669" r:id="rIdLayout21"/>
    <p:sldLayoutId id="2147483670" r:id="rIdLayout22"/>
    <p:sldLayoutId id="2147483671" r:id="rIdLayout23"/>
    <p:sldLayoutId id="2147483672" r:id="rIdLayout24"/>
    <p:sldLayoutId id="2147483673" r:id="rIdLayout25"/>
    <p:sldLayoutId id="2147483674" r:id="rIdLayout26"/>
    <p:sldLayoutId id="2147483675" r:id="rIdLayout27"/>
    <p:sldLayoutId id="2147483676" r:id="rIdLayout28"/>
  </p:sldLayoutIdLst>
  <p:txStyles>
    <p:titleStyle>
      <a:lvl1pPr algn="l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rtl="0" eaLnBrk="1" latinLnBrk="0" hangingPunct="1">
        <a:lnSpc>
          <a:spcPct val="100000"/>
        </a:lnSpc>
        <a:spcBef>
          <a:spcPts val="1000"/>
        </a:spcBef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indent="-285750" algn="l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285750" algn="l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285750" algn="l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85750" algn="l" rtl="0" eaLnBrk="1" latinLnBrk="0" hangingPunct="1">
        <a:lnSpc>
          <a:spcPct val="100000"/>
        </a:lnSpc>
        <a:spcBef>
          <a:spcPts val="5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GB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20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Operations team</a:t>
            </a:r>
          </a:p>
          <a:p>
            <a:pPr/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conference 2026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/>
            <a:r>
              <a:t>Opening keynote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entry proposal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/>
            <a:r>
              <a:t>Strategy office</a:t>
            </a:r>
          </a:p>
          <a:p>
            <a:pPr/>
            <a:r>
              <a:t>October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financial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Finance · Fiscal year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governance webinar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Live online · 14 October 2026</a:t>
            </a:r>
          </a:p>
          <a:p>
            <a:pPr/>
            <a:r>
              <a:t>Alex Morgan, Head of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  Context</a:t>
            </a:r>
          </a:p>
          <a:p>
            <a:pPr/>
            <a:r>
              <a:t>2   Evidence</a:t>
            </a:r>
          </a:p>
          <a:p>
            <a:pPr/>
            <a:r>
              <a:t>3   Decision</a:t>
            </a:r>
          </a:p>
          <a:p>
            <a:pPr/>
            <a:r>
              <a:t>4   Next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  Context</a:t>
            </a:r>
          </a:p>
          <a:p>
            <a:pPr/>
            <a:r>
              <a:rPr b="1"/>
              <a:t>2   Evidence</a:t>
            </a:r>
          </a:p>
          <a:p>
            <a:pPr/>
            <a:r>
              <a:t>3   Decision</a:t>
            </a:r>
          </a:p>
          <a:p>
            <a:pPr/>
            <a:r>
              <a:t>4   Next steps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Customer research and sales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Section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Alex Morgan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Head of Data, Example Organization</a:t>
            </a:r>
          </a:p>
          <a:p>
            <a:pPr/>
            <a:r>
              <a:t>Leads the data governance programme and reporting standards.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Speakers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Alex Morgan</a:t>
            </a:r>
          </a:p>
          <a:p>
            <a:pPr lvl="1"/>
            <a:r>
              <a:t>Head of Data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Taylor Chen</a:t>
            </a:r>
          </a:p>
          <a:p>
            <a:pPr lvl="1"/>
            <a:r>
              <a:t>Chief Operating Officer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Alex Morgan</a:t>
            </a:r>
          </a:p>
          <a:p>
            <a:pPr lvl="1"/>
            <a:r>
              <a:t>Moderator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Taylor Chen</a:t>
            </a:r>
          </a:p>
          <a:p>
            <a:pPr lvl="1"/>
            <a:r>
              <a:t>Operations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5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t>Jordan Singh</a:t>
            </a:r>
          </a:p>
          <a:p>
            <a:pPr lvl="1"/>
            <a:r>
              <a:t>Finance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7"/>
          </p:nvPr>
        </p:nvSpPr>
        <p:spPr/>
      </p:sp>
      <p:sp>
        <p:nvSpPr>
          <p:cNvPr id="10" name="Text Placeholder 9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t>Sam Rivera</a:t>
            </a:r>
          </a:p>
          <a:p>
            <a:pPr lvl="1"/>
            <a:r>
              <a:t>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team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Alex Morgan</a:t>
            </a:r>
          </a:p>
          <a:p>
            <a:pPr lvl="1"/>
            <a:r>
              <a:t>Sponsor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Taylor Chen</a:t>
            </a:r>
          </a:p>
          <a:p>
            <a:pPr lvl="1"/>
            <a:r>
              <a:t>Programme lead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idx="5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t>Jordan Singh</a:t>
            </a:r>
          </a:p>
          <a:p>
            <a:pPr lvl="1"/>
            <a:r>
              <a:t>Finance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idx="7"/>
          </p:nvPr>
        </p:nvSpPr>
        <p:spPr/>
      </p:sp>
      <p:sp>
        <p:nvSpPr>
          <p:cNvPr id="10" name="Text Placeholder 9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t>Sam Rivera</a:t>
            </a:r>
          </a:p>
          <a:p>
            <a:pPr lvl="1"/>
            <a:r>
              <a:t>Product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idx="9"/>
          </p:nvPr>
        </p:nvSpPr>
        <p:spPr/>
      </p:sp>
      <p:sp>
        <p:nvSpPr>
          <p:cNvPr id="12" name="Text Placeholder 1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Riley Okafor</a:t>
            </a:r>
          </a:p>
          <a:p>
            <a:pPr lvl="1"/>
            <a:r>
              <a:t>Engineering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4"/>
          </p:nvPr>
        </p:nvSpPr>
        <p:spPr/>
      </p:sp>
      <p:sp>
        <p:nvSpPr>
          <p:cNvPr id="14" name="Text Placeholder 1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Casey Brown</a:t>
            </a:r>
          </a:p>
          <a:p>
            <a:pPr lvl="1"/>
            <a:r>
              <a:t>Change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Jordan Singh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Chief Financial Officer</a:t>
            </a:r>
          </a:p>
          <a:p>
            <a:pPr/>
            <a:r>
              <a:t>Joined in 2019 from a regional bank.</a:t>
            </a:r>
          </a:p>
          <a:p>
            <a:pPr/>
            <a:r>
              <a:t>Responsible for planning, treasury and investor relations.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model overview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Scope confirmed for all four regions</a:t>
            </a:r>
          </a:p>
          <a:p>
            <a:pPr/>
            <a:r>
              <a:t>Spend within 2% of plan</a:t>
            </a:r>
          </a:p>
          <a:p>
            <a:pPr/>
            <a:r>
              <a:t>Two risks escalated to the steering group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tickets fell after the self-service launch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Monthly tickets, January to September 2026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Self-service launched in April</a:t>
            </a:r>
          </a:p>
          <a:p>
            <a:pPr/>
            <a:r>
              <a:t>Tickets fell from 4,200 to 3,450 per month by September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 scope</a:t>
            </a:r>
          </a:p>
          <a:p>
            <a:pPr lvl="1"/>
            <a:r>
              <a:t>Customer onboarding</a:t>
            </a:r>
          </a:p>
          <a:p>
            <a:pPr lvl="1"/>
            <a:r>
              <a:t>Billing changes</a:t>
            </a:r>
          </a:p>
          <a:p>
            <a:pPr lvl="1"/>
            <a:r>
              <a:t>Reporting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Out of scope</a:t>
            </a:r>
          </a:p>
          <a:p>
            <a:pPr lvl="1"/>
            <a:r>
              <a:t>Pricing review</a:t>
            </a:r>
          </a:p>
          <a:p>
            <a:pPr lvl="1"/>
            <a:r>
              <a:t>Partner contracts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Summary</a:t>
            </a:r>
          </a:p>
          <a:p>
            <a:pPr lvl="1"/>
            <a:r>
              <a:t>Four regions covered</a:t>
            </a:r>
          </a:p>
          <a:p>
            <a:pPr lvl="1"/>
            <a:r>
              <a:t>Two pending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North: full coverage since March</a:t>
            </a:r>
          </a:p>
          <a:p>
            <a:pPr/>
            <a:r>
              <a:t>Central: full coverage since May</a:t>
            </a:r>
          </a:p>
          <a:p>
            <a:pPr/>
            <a:r>
              <a:t>South and West: pilots running until December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North exceeded plan in every quarter</a:t>
            </a:r>
          </a:p>
          <a:p>
            <a:pPr/>
            <a:r>
              <a:t>Central recovered after a weak first quarter</a:t>
            </a:r>
          </a:p>
          <a:p>
            <a:pPr/>
            <a:r>
              <a:t>South and West are tracking to plan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Summary</a:t>
            </a:r>
          </a:p>
          <a:p>
            <a:pPr lvl="1"/>
            <a:r>
              <a:t>Two regions ahead of plan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workstreams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Process</a:t>
            </a:r>
          </a:p>
          <a:p>
            <a:pPr lvl="1"/>
            <a:r>
              <a:t>Map and simplify approvals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Technology</a:t>
            </a:r>
          </a:p>
          <a:p>
            <a:pPr lvl="1"/>
            <a:r>
              <a:t>Replace the legacy portal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People</a:t>
            </a:r>
          </a:p>
          <a:p>
            <a:pPr lvl="1"/>
            <a:r>
              <a:t>Train 400 staff by March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Planning</a:t>
            </a:r>
          </a:p>
          <a:p>
            <a:pPr lvl="1"/>
            <a:r>
              <a:t>Quarterly forecasts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Reporting</a:t>
            </a:r>
          </a:p>
          <a:p>
            <a:pPr lvl="1"/>
            <a:r>
              <a:t>Monthly dashboards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Analytics</a:t>
            </a:r>
          </a:p>
          <a:p>
            <a:pPr lvl="1"/>
            <a:r>
              <a:t>Ad hoc analysis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/>
            <a:r>
              <a:t>Governance</a:t>
            </a:r>
          </a:p>
          <a:p>
            <a:pPr lvl="1"/>
            <a:r>
              <a:t>Data standards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42%</a:t>
            </a:r>
          </a:p>
          <a:p>
            <a:pPr lvl="1"/>
            <a:r>
              <a:t>of eligible staff use the portal weekly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Up from 28% in January</a:t>
            </a:r>
          </a:p>
          <a:p>
            <a:pPr/>
            <a:r>
              <a:t>Highest in North and Central</a:t>
            </a:r>
          </a:p>
          <a:p>
            <a:pPr/>
            <a:r>
              <a:t>Target: 60% by June 2027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decisions are needed today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18 days</a:t>
            </a:r>
          </a:p>
          <a:p>
            <a:pPr lvl="1"/>
            <a:r>
              <a:t>median order-to-delivery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Year-to-date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42%</a:t>
            </a:r>
          </a:p>
          <a:p>
            <a:pPr lvl="1"/>
            <a:r>
              <a:t>adoption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£3.2m</a:t>
            </a:r>
          </a:p>
          <a:p>
            <a:pPr lvl="1"/>
            <a:r>
              <a:t>annual value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18 days</a:t>
            </a:r>
          </a:p>
          <a:p>
            <a:pPr lvl="1"/>
            <a:r>
              <a:t>cycle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Definition: active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Active user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A person who signs in at least once in a 28-day period.</a:t>
            </a:r>
          </a:p>
          <a:p>
            <a:pPr/>
            <a:r>
              <a:t>Excludes service accounts and test users.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“The new approval process halved our turnaround time.”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Name, Role, Organization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“We now close the month in four days instead of nine.”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Name, Role, Organization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  Adoption is ahead of plan</a:t>
            </a:r>
          </a:p>
          <a:p>
            <a:pPr/>
            <a:r>
              <a:t>2   Costs are within budget</a:t>
            </a:r>
          </a:p>
          <a:p>
            <a:pPr/>
            <a:r>
              <a:t>3   One decision is needed on scope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Recommendation: proceed with phase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Finding</a:t>
            </a:r>
          </a:p>
          <a:p>
            <a:pPr lvl="1"/>
            <a:r>
              <a:t>Phase one met all exit criteria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Impact</a:t>
            </a:r>
          </a:p>
          <a:p>
            <a:pPr lvl="1"/>
            <a:r>
              <a:t>£3.2m annual value confirmed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Next step</a:t>
            </a:r>
          </a:p>
          <a:p>
            <a:pPr lvl="1"/>
            <a:r>
              <a:t>Approve phase two budget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Adopt option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Lowest five-year cost</a:t>
            </a:r>
          </a:p>
          <a:p>
            <a:pPr/>
            <a:r>
              <a:t>Meets all security requirements</a:t>
            </a:r>
          </a:p>
          <a:p>
            <a:pPr/>
            <a:r>
              <a:t>Can start in January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A versus option 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Option 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£1.2m five-year cost</a:t>
            </a:r>
          </a:p>
          <a:p>
            <a:pPr/>
            <a:r>
              <a:t>Live in nine months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Option 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/>
            <a:r>
              <a:t>£0.9m five-year cost</a:t>
            </a:r>
          </a:p>
          <a:p>
            <a:pPr/>
            <a:r>
              <a:t>Live in six months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Hosted service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No hardware to maintain</a:t>
            </a:r>
          </a:p>
          <a:p>
            <a:pPr/>
            <a:r>
              <a:t>Automatic updates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Limitations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/>
            <a:r>
              <a:t>Annual licence increases</a:t>
            </a:r>
          </a:p>
          <a:p>
            <a:pPr/>
            <a:r>
              <a:t>Limited customisation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Checkout page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Before</a:t>
            </a:r>
          </a:p>
          <a:p>
            <a:pPr lvl="1"/>
            <a:r>
              <a:t>Five steps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After</a:t>
            </a:r>
          </a:p>
          <a:p>
            <a:pPr lvl="1"/>
            <a:r>
              <a:t>Two steps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 invoices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Problem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30% of invoices are paid late</a:t>
            </a:r>
          </a:p>
          <a:p>
            <a:pPr/>
            <a:r>
              <a:t>Manual approval queue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Solution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/>
            <a:r>
              <a:t>Automated approval under £5,000</a:t>
            </a:r>
          </a:p>
          <a:p>
            <a:pPr/>
            <a:r>
              <a:t>Weekly exception report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consolidation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Challenge</a:t>
            </a:r>
          </a:p>
          <a:p>
            <a:pPr lvl="1"/>
            <a:r>
              <a:t>Three sites with duplicated stock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Approach</a:t>
            </a:r>
          </a:p>
          <a:p>
            <a:pPr lvl="1"/>
            <a:r>
              <a:t>Consolidated to one site over six months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Result</a:t>
            </a:r>
          </a:p>
          <a:p>
            <a:pPr lvl="1"/>
            <a:r>
              <a:t>Stock holding down 22%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Organization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Reduced onboarding time from 20 days to 12.</a:t>
            </a:r>
          </a:p>
          <a:p>
            <a:pPr/>
            <a:r>
              <a:t>Customer since 2023.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Frequently asked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When does the pilot start?</a:t>
            </a:r>
          </a:p>
          <a:p>
            <a:pPr lvl="1"/>
            <a:r>
              <a:t>1 November 2026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Who can take part?</a:t>
            </a:r>
          </a:p>
          <a:p>
            <a:pPr lvl="1"/>
            <a:r>
              <a:t>All staff in the North region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option should we fund?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service centre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Opened in September 2026</a:t>
            </a:r>
          </a:p>
          <a:p>
            <a:pPr/>
            <a:r>
              <a:t>Handles all customer calls for the North region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equipment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Standard kit issued to every engineer from January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operations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photographs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3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/>
        </p:txBody>
      </p:sp>
      <p:sp>
        <p:nvSpPr>
          <p:cNvPr id="7" name="Picture Placeholder 6"/>
          <p:cNvSpPr>
            <a:spLocks noGrp="1"/>
          </p:cNvSpPr>
          <p:nvPr>
            <p:ph type="pic" idx="5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/>
        </p:txBody>
      </p:sp>
      <p:sp>
        <p:nvSpPr>
          <p:cNvPr id="9" name="Picture Placeholder 8"/>
          <p:cNvSpPr>
            <a:spLocks noGrp="1"/>
          </p:cNvSpPr>
          <p:nvPr>
            <p:ph type="pic" idx="7"/>
          </p:nvPr>
        </p:nvSpPr>
        <p:spPr/>
      </p:sp>
      <p:sp>
        <p:nvSpPr>
          <p:cNvPr id="10" name="Text Placeholder 9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home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1   Date range</a:t>
            </a:r>
          </a:p>
          <a:p>
            <a:pPr/>
            <a:r>
              <a:t>2   Region</a:t>
            </a:r>
          </a:p>
          <a:p>
            <a:pPr/>
            <a:r>
              <a:t>3   Export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by region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Adoption: actual versus target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region and channel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region and channel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mix by region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by region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Adoption: actual versus target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Units sold by region and channel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mix by region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scores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segment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active users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active users by plan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active users: actual and target (thousands)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profit bridge (£m)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index versus satisfaction score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Markets: growth, share and size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pipeline (opportunities)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product (%)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4659654" cy="466344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/>
            <a:r>
              <a:rPr sz="1800" b="1">
                <a:solidFill>
                  <a:schemeClr val="bg1"/>
                </a:solidFill>
              </a:rPr>
              <a:t>Product A</a:t>
            </a:r>
          </a:p>
          <a:p>
            <a:pPr algn="l"/>
            <a:r>
              <a:rPr sz="1600">
                <a:solidFill>
                  <a:schemeClr val="bg1"/>
                </a:solidFill>
              </a:rPr>
              <a:t>42%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8294" y="1417320"/>
            <a:ext cx="6434760" cy="1929699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/>
            <a:r>
              <a:rPr sz="1800" b="1">
                <a:solidFill>
                  <a:schemeClr val="bg1"/>
                </a:solidFill>
              </a:rPr>
              <a:t>Product B</a:t>
            </a:r>
          </a:p>
          <a:p>
            <a:pPr algn="l"/>
            <a:r>
              <a:rPr sz="1600">
                <a:solidFill>
                  <a:schemeClr val="bg1"/>
                </a:solidFill>
              </a:rPr>
              <a:t>24%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8294" y="3347019"/>
            <a:ext cx="3406638" cy="273374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/>
            <a:r>
              <a:rPr sz="1800" b="1">
                <a:solidFill>
                  <a:schemeClr val="bg1"/>
                </a:solidFill>
              </a:rPr>
              <a:t>Product C</a:t>
            </a:r>
          </a:p>
          <a:p>
            <a:pPr algn="l"/>
            <a:r>
              <a:rPr sz="1600">
                <a:solidFill>
                  <a:schemeClr val="bg1"/>
                </a:solidFill>
              </a:rPr>
              <a:t>18%</a:t>
            </a:r>
          </a:p>
        </p:txBody>
      </p:sp>
      <p:sp>
        <p:nvSpPr>
          <p:cNvPr id="6" name="Rectangle 5"/>
          <p:cNvSpPr/>
          <p:nvPr/>
        </p:nvSpPr>
        <p:spPr>
          <a:xfrm>
            <a:off x="8614932" y="3347019"/>
            <a:ext cx="3028122" cy="273374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/>
            <a:r>
              <a:rPr sz="1800" b="1">
                <a:solidFill>
                  <a:schemeClr val="bg1"/>
                </a:solidFill>
              </a:rPr>
              <a:t>Product D</a:t>
            </a:r>
          </a:p>
          <a:p>
            <a:pPr algn="l"/>
            <a:r>
              <a:rPr sz="1600">
                <a:solidFill>
                  <a:schemeClr val="bg1"/>
                </a:solidFill>
              </a:rPr>
              <a:t>16%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Utilisation by region and quarter (%)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777240">
                <a:tc>
                  <a:txBody>
                    <a:bodyPr/>
                    <a:lstStyle/>
                    <a:p>
                      <a:r>
                        <a:rPr sz="140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Q4</a:t>
                      </a:r>
                    </a:p>
                  </a:txBody>
                  <a:tcPr anchor="ctr"/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42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61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78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/>
                        <a:t>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55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72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84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31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67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/>
                        <a:t>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tx1"/>
                          </a:solidFill>
                        </a:rPr>
                        <a:t>44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59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chemeClr val="bg1"/>
                          </a:solidFill>
                        </a:rPr>
                        <a:t>91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Customers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North: 42%</a:t>
            </a:r>
          </a:p>
          <a:p>
            <a:pPr/>
            <a:r>
              <a:t>Central: 36%</a:t>
            </a:r>
          </a:p>
          <a:p>
            <a:pPr/>
            <a:r>
              <a:t>South: 25%</a:t>
            </a:r>
          </a:p>
          <a:p>
            <a:pPr/>
            <a:r>
              <a:t>West: 31%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42%</a:t>
            </a:r>
          </a:p>
          <a:p>
            <a:pPr lvl="1"/>
            <a:r>
              <a:t>adoption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£3.2m</a:t>
            </a:r>
          </a:p>
          <a:p>
            <a:pPr lvl="1"/>
            <a:r>
              <a:t>annual value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18 days</a:t>
            </a:r>
          </a:p>
          <a:p>
            <a:pPr lvl="1"/>
            <a:r>
              <a:t>cycle time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+12%</a:t>
            </a:r>
          </a:p>
          <a:p>
            <a:pPr lvl="1"/>
            <a:r>
              <a:t>year on year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Adoption: actual versus target (%)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7213397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All four regions are above target</a:t>
            </a:r>
          </a:p>
          <a:p>
            <a:pPr lvl="1"/>
            <a:r>
              <a:t>Largest gap: North, +7 points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19" y="3566160"/>
            <a:ext cx="1072865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987552" y="3456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39" y="2606039"/>
            <a:ext cx="2011680" cy="640080"/>
          </a:xfrm>
          <a:prstGeom prst="rect">
            <a:avLst/>
          </a:prstGeom>
          <a:noFill/>
        </p:spPr>
        <p:txBody>
          <a:bodyPr wrap="square" anchor="b" lIns="73152" rIns="73152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" y="384048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Kick-off</a:t>
            </a:r>
          </a:p>
        </p:txBody>
      </p:sp>
      <p:sp>
        <p:nvSpPr>
          <p:cNvPr id="7" name="Oval 6"/>
          <p:cNvSpPr/>
          <p:nvPr/>
        </p:nvSpPr>
        <p:spPr>
          <a:xfrm>
            <a:off x="3486835" y="3456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0723" y="2606039"/>
            <a:ext cx="2011680" cy="640080"/>
          </a:xfrm>
          <a:prstGeom prst="rect">
            <a:avLst/>
          </a:prstGeom>
          <a:noFill/>
        </p:spPr>
        <p:txBody>
          <a:bodyPr wrap="square" anchor="b" lIns="73152" rIns="73152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Dec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723" y="384048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Design signed off</a:t>
            </a:r>
          </a:p>
        </p:txBody>
      </p:sp>
      <p:sp>
        <p:nvSpPr>
          <p:cNvPr id="10" name="Oval 9"/>
          <p:cNvSpPr/>
          <p:nvPr/>
        </p:nvSpPr>
        <p:spPr>
          <a:xfrm>
            <a:off x="5986119" y="3456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0007" y="2606039"/>
            <a:ext cx="2011680" cy="640080"/>
          </a:xfrm>
          <a:prstGeom prst="rect">
            <a:avLst/>
          </a:prstGeom>
          <a:noFill/>
        </p:spPr>
        <p:txBody>
          <a:bodyPr wrap="square" anchor="b" lIns="73152" rIns="73152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Mar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007" y="384048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Pilot live</a:t>
            </a:r>
          </a:p>
        </p:txBody>
      </p:sp>
      <p:sp>
        <p:nvSpPr>
          <p:cNvPr id="13" name="Oval 12"/>
          <p:cNvSpPr/>
          <p:nvPr/>
        </p:nvSpPr>
        <p:spPr>
          <a:xfrm>
            <a:off x="8485403" y="3456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291" y="2606039"/>
            <a:ext cx="2011680" cy="640080"/>
          </a:xfrm>
          <a:prstGeom prst="rect">
            <a:avLst/>
          </a:prstGeom>
          <a:noFill/>
        </p:spPr>
        <p:txBody>
          <a:bodyPr wrap="square" anchor="b" lIns="73152" rIns="73152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Jun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291" y="384048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Full rollout</a:t>
            </a:r>
          </a:p>
        </p:txBody>
      </p:sp>
      <p:sp>
        <p:nvSpPr>
          <p:cNvPr id="16" name="Oval 15"/>
          <p:cNvSpPr/>
          <p:nvPr/>
        </p:nvSpPr>
        <p:spPr>
          <a:xfrm>
            <a:off x="10984687" y="3456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2606039"/>
            <a:ext cx="2011680" cy="640080"/>
          </a:xfrm>
          <a:prstGeom prst="rect">
            <a:avLst/>
          </a:prstGeom>
          <a:noFill/>
        </p:spPr>
        <p:txBody>
          <a:bodyPr wrap="square" anchor="b" lIns="73152" rIns="73152">
            <a:spAutoFit/>
          </a:bodyPr>
          <a:lstStyle/>
          <a:p>
            <a:pPr algn="ctr"/>
            <a:r>
              <a:rPr sz="1600" b="1">
                <a:solidFill>
                  <a:schemeClr val="tx1"/>
                </a:solidFill>
              </a:rPr>
              <a:t>Sep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3840480"/>
            <a:ext cx="201168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Review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Now</a:t>
            </a:r>
          </a:p>
          <a:p>
            <a:pPr lvl="1"/>
            <a:r>
              <a:t>Single sign-on</a:t>
            </a:r>
          </a:p>
          <a:p>
            <a:pPr lvl="1"/>
            <a:r>
              <a:t>Mobile approvals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Next</a:t>
            </a:r>
          </a:p>
          <a:p>
            <a:pPr lvl="1"/>
            <a:r>
              <a:t>Supplier portal</a:t>
            </a:r>
          </a:p>
          <a:p>
            <a:pPr lvl="1"/>
            <a:r>
              <a:t>Spend analytics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Later</a:t>
            </a:r>
          </a:p>
          <a:p>
            <a:pPr lvl="1"/>
            <a:r>
              <a:t>Forecasting</a:t>
            </a:r>
          </a:p>
          <a:p>
            <a:pPr lvl="1"/>
            <a:r>
              <a:t>Partner integrations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743200"/>
            <a:ext cx="1783080" cy="13716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1  Order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Customer submits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76473" y="2743200"/>
            <a:ext cx="1783080" cy="13716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2  Check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Credit and stock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204307" y="2743200"/>
            <a:ext cx="1783080" cy="13716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3  Pick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32141" y="2743200"/>
            <a:ext cx="1783080" cy="13716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4  Ship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Carrier collects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59975" y="2743200"/>
            <a:ext cx="1783080" cy="13716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5  Invoice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Finance bills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3429000"/>
            <a:ext cx="398448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32704" y="3429000"/>
            <a:ext cx="398451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60538" y="3429000"/>
            <a:ext cx="398451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388373" y="3429000"/>
            <a:ext cx="398450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request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0" y="1417320"/>
            <a:ext cx="5943600" cy="77724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1  Request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Submitted through the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2712720"/>
            <a:ext cx="5943600" cy="77724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2  Review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Data owner checks purpose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0" y="4008120"/>
            <a:ext cx="5943600" cy="77724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3  Approve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Governance board signs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5303520"/>
            <a:ext cx="5943600" cy="77724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4  Deliver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Extract shared within five days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267712"/>
            <a:ext cx="0" cy="371856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3563112"/>
            <a:ext cx="0" cy="371856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4858512"/>
            <a:ext cx="0" cy="371856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phases</a:t>
            </a:r>
          </a:p>
        </p:txBody>
      </p:sp>
      <p:sp>
        <p:nvSpPr>
          <p:cNvPr id="3" name="Pentagon 2"/>
          <p:cNvSpPr/>
          <p:nvPr/>
        </p:nvSpPr>
        <p:spPr>
          <a:xfrm>
            <a:off x="486003" y="2377440"/>
            <a:ext cx="2331720" cy="9144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163" y="3474720"/>
            <a:ext cx="192023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Interviews and data review</a:t>
            </a:r>
          </a:p>
        </p:txBody>
      </p:sp>
      <p:sp>
        <p:nvSpPr>
          <p:cNvPr id="5" name="Chevron 4"/>
          <p:cNvSpPr/>
          <p:nvPr/>
        </p:nvSpPr>
        <p:spPr>
          <a:xfrm>
            <a:off x="2707995" y="2377440"/>
            <a:ext cx="2331720" cy="9144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5155" y="3474720"/>
            <a:ext cx="192023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Target process agreed</a:t>
            </a:r>
          </a:p>
        </p:txBody>
      </p:sp>
      <p:sp>
        <p:nvSpPr>
          <p:cNvPr id="7" name="Chevron 6"/>
          <p:cNvSpPr/>
          <p:nvPr/>
        </p:nvSpPr>
        <p:spPr>
          <a:xfrm>
            <a:off x="4929987" y="2377440"/>
            <a:ext cx="2331720" cy="9144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7147" y="3474720"/>
            <a:ext cx="192023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Configuration complete</a:t>
            </a:r>
          </a:p>
        </p:txBody>
      </p:sp>
      <p:sp>
        <p:nvSpPr>
          <p:cNvPr id="9" name="Chevron 8"/>
          <p:cNvSpPr/>
          <p:nvPr/>
        </p:nvSpPr>
        <p:spPr>
          <a:xfrm>
            <a:off x="7151979" y="2377440"/>
            <a:ext cx="2331720" cy="9144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9139" y="3474720"/>
            <a:ext cx="192023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User acceptance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9373971" y="2377440"/>
            <a:ext cx="2331720" cy="9144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11131" y="3474720"/>
            <a:ext cx="1920239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Go live and support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improvement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98567" y="1531619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9293" y="2763697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33462" y="4757242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672" y="4757242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67841" y="2763697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Standardise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61197" y="2424575"/>
            <a:ext cx="800025" cy="314845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328911" y="3695108"/>
            <a:ext cx="599492" cy="999402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331384" y="5191582"/>
            <a:ext cx="1528925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263290" y="3695108"/>
            <a:ext cx="599492" cy="999402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130471" y="2424575"/>
            <a:ext cx="800025" cy="314845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Recruitment funnel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3847" y="1600200"/>
            <a:ext cx="9144000" cy="960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Applications: 1,200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2438247" y="2743200"/>
            <a:ext cx="7315200" cy="960120"/>
          </a:xfrm>
          <a:prstGeom prst="rect">
            <a:avLst/>
          </a:prstGeom>
          <a:solidFill>
            <a:schemeClr val="accent1">
              <a:lumMod val="80000"/>
              <a:lumOff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Screened: 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647" y="3886200"/>
            <a:ext cx="5486400" cy="9601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Interviewed: 150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5029200"/>
            <a:ext cx="3657600" cy="9601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tx1"/>
                </a:solidFill>
              </a:rPr>
              <a:t>Offers: 40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request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Customer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971800"/>
            <a:ext cx="110944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97180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Service desk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526280"/>
            <a:ext cx="110944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52628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chemeClr val="tx1"/>
                </a:solidFill>
              </a:rPr>
              <a:t>Engineering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286000" y="1828800"/>
            <a:ext cx="1600200" cy="73152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Raise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5213" y="3383280"/>
            <a:ext cx="1600200" cy="73152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Triage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4427" y="4937760"/>
            <a:ext cx="1600200" cy="73152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641" y="3383280"/>
            <a:ext cx="1600200" cy="73152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Confirm 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42855" y="1828800"/>
            <a:ext cx="1600200" cy="73152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Close 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99462" y="2606073"/>
            <a:ext cx="912488" cy="731453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38676" y="4160553"/>
            <a:ext cx="912487" cy="731453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77890" y="4160553"/>
            <a:ext cx="912487" cy="731453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417104" y="2606073"/>
            <a:ext cx="912487" cy="731453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834640"/>
            <a:ext cx="1920240" cy="9144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Draft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2834640"/>
            <a:ext cx="192024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Review</a:t>
            </a:r>
          </a:p>
        </p:txBody>
      </p:sp>
      <p:sp>
        <p:nvSpPr>
          <p:cNvPr id="5" name="Diamond 4"/>
          <p:cNvSpPr/>
          <p:nvPr/>
        </p:nvSpPr>
        <p:spPr>
          <a:xfrm>
            <a:off x="5486400" y="2468880"/>
            <a:ext cx="2560320" cy="1645920"/>
          </a:xfrm>
          <a:prstGeom prst="diamond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Approved?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834640"/>
            <a:ext cx="1920240" cy="91440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Publish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4892040"/>
            <a:ext cx="192024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Revise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3291840"/>
            <a:ext cx="493776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02352" y="3291840"/>
            <a:ext cx="310896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19872" y="3291840"/>
            <a:ext cx="1225295" cy="0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66560" y="4187952"/>
            <a:ext cx="0" cy="630936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069080" y="5349240"/>
            <a:ext cx="166420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69080" y="3822191"/>
            <a:ext cx="0" cy="1527049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2788920"/>
            <a:ext cx="109728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206240"/>
            <a:ext cx="7315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</a:rPr>
              <a:t>No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journey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57200">
                <a:tc>
                  <a:txBody>
                    <a:bodyPr/>
                    <a:lstStyle/>
                    <a:p>
                      <a:r>
                        <a:rPr sz="120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Discover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Buy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Onboard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Renew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Customer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Understand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Compare suppliers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Agree terms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Go live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Review value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Touchpoint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Website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Sales 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Account review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Legal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Account team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98567" y="1623059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Acquire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16087" y="3314699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Operate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98567" y="5006340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Maintain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047" y="3314699"/>
            <a:ext cx="2194560" cy="868680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Retire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34424" y="2527510"/>
            <a:ext cx="1340365" cy="751417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6934424" y="4219150"/>
            <a:ext cx="1340365" cy="751418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3916904" y="4219150"/>
            <a:ext cx="1340365" cy="751418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916904" y="2527510"/>
            <a:ext cx="1340365" cy="751417"/>
          </a:xfrm>
          <a:prstGeom prst="line">
            <a:avLst/>
          </a:prstGeom>
          <a:ln w="15875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1417320"/>
            <a:ext cx="274320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Alex Morgan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Programme sponsor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291840"/>
            <a:ext cx="274320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Taylor Chen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3291840"/>
            <a:ext cx="274320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Jordan Singh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99855" y="3291840"/>
            <a:ext cx="2743200" cy="91440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tx1"/>
                </a:solidFill>
              </a:rPr>
              <a:t>Riley Okafor</a:t>
            </a:r>
          </a:p>
          <a:p>
            <a:pPr algn="ctr"/>
            <a:r>
              <a:rPr sz="1200">
                <a:solidFill>
                  <a:schemeClr val="tx1"/>
                </a:solidFill>
              </a:rPr>
              <a:t>Technology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" y="2331720"/>
            <a:ext cx="0" cy="457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2788920"/>
            <a:ext cx="835121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20240" y="2788920"/>
            <a:ext cx="0" cy="50291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2788920"/>
            <a:ext cx="0" cy="50291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71455" y="2788920"/>
            <a:ext cx="0" cy="50291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265615" y="4617720"/>
            <a:ext cx="2377440" cy="64008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chemeClr val="tx1"/>
                </a:solidFill>
              </a:rPr>
              <a:t>Casey Brown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Change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82735" y="4206240"/>
            <a:ext cx="0" cy="731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82735" y="4937760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265615" y="5394959"/>
            <a:ext cx="2377440" cy="640080"/>
          </a:xfrm>
          <a:prstGeom prst="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chemeClr val="tx1"/>
                </a:solidFill>
              </a:rPr>
              <a:t>Sam Rivera</a:t>
            </a:r>
          </a:p>
          <a:p>
            <a:pPr algn="ctr"/>
            <a:r>
              <a:rPr sz="1000">
                <a:solidFill>
                  <a:schemeClr val="tx1"/>
                </a:solidFill>
              </a:rPr>
              <a:t>Product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82735" y="4206240"/>
            <a:ext cx="0" cy="150875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82735" y="5714999"/>
            <a:ext cx="18288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ecosystem</a:t>
            </a:r>
          </a:p>
        </p:txBody>
      </p:sp>
      <p:sp>
        <p:nvSpPr>
          <p:cNvPr id="3" name="Oval 2"/>
          <p:cNvSpPr/>
          <p:nvPr/>
        </p:nvSpPr>
        <p:spPr>
          <a:xfrm>
            <a:off x="4907127" y="3246120"/>
            <a:ext cx="2377440" cy="10058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chemeClr val="bg1"/>
                </a:solidFill>
              </a:rPr>
              <a:t>Our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52847" y="1536191"/>
            <a:ext cx="2286000" cy="768096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Payment providers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095847" y="2377439"/>
            <a:ext cx="0" cy="79552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779289" y="2799861"/>
            <a:ext cx="2286000" cy="768096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Logistics partners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356934" y="3363407"/>
            <a:ext cx="1349987" cy="1993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7718" y="4844522"/>
            <a:ext cx="2286000" cy="768096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Resellers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61726" y="4290758"/>
            <a:ext cx="823116" cy="51496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87975" y="4844522"/>
            <a:ext cx="2286000" cy="768096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Data suppliers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4406850" y="4290758"/>
            <a:ext cx="823117" cy="51496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26404" y="2799861"/>
            <a:ext cx="2286000" cy="768096"/>
          </a:xfrm>
          <a:prstGeom prst="roundRect">
            <a:avLst/>
          </a:prstGeom>
          <a:noFill/>
          <a:ln w="158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>
                <a:solidFill>
                  <a:schemeClr val="tx1"/>
                </a:solidFill>
              </a:rPr>
              <a:t>Systems integrators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484771" y="3363407"/>
            <a:ext cx="1349988" cy="19938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hierarchy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5067147" y="1417320"/>
            <a:ext cx="2057400" cy="1143000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Vision</a:t>
            </a:r>
          </a:p>
        </p:txBody>
      </p:sp>
      <p:sp>
        <p:nvSpPr>
          <p:cNvPr id="4" name="Trapezoid 3"/>
          <p:cNvSpPr/>
          <p:nvPr/>
        </p:nvSpPr>
        <p:spPr>
          <a:xfrm>
            <a:off x="4038447" y="2560320"/>
            <a:ext cx="4114800" cy="1088136"/>
          </a:xfrm>
          <a:prstGeom prst="trapezoid">
            <a:avLst>
              <a:gd name="adj" fmla="val 94537"/>
            </a:avLst>
          </a:prstGeom>
          <a:solidFill>
            <a:schemeClr val="accent1">
              <a:lumMod val="80000"/>
              <a:lumOff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5" name="Trapezoid 4"/>
          <p:cNvSpPr/>
          <p:nvPr/>
        </p:nvSpPr>
        <p:spPr>
          <a:xfrm>
            <a:off x="3009747" y="3703320"/>
            <a:ext cx="6172200" cy="1088136"/>
          </a:xfrm>
          <a:prstGeom prst="trapezoid">
            <a:avLst>
              <a:gd name="adj" fmla="val 9453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bg1"/>
                </a:solidFill>
              </a:rPr>
              <a:t>Programmes</a:t>
            </a:r>
          </a:p>
        </p:txBody>
      </p:sp>
      <p:sp>
        <p:nvSpPr>
          <p:cNvPr id="6" name="Trapezoid 5"/>
          <p:cNvSpPr/>
          <p:nvPr/>
        </p:nvSpPr>
        <p:spPr>
          <a:xfrm>
            <a:off x="1981047" y="4846320"/>
            <a:ext cx="8229600" cy="1088136"/>
          </a:xfrm>
          <a:prstGeom prst="trapezoid">
            <a:avLst>
              <a:gd name="adj" fmla="val 9453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chemeClr val="tx1"/>
                </a:solidFill>
              </a:rPr>
              <a:t>Operations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Initiatives by impact and effort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High impact, low effort</a:t>
            </a:r>
          </a:p>
          <a:p>
            <a:pPr lvl="1"/>
            <a:r>
              <a:t>Automated approvals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t>High impact, high effort</a:t>
            </a:r>
          </a:p>
          <a:p>
            <a:pPr lvl="1"/>
            <a:r>
              <a:t>Platform replacement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3"/>
          </p:nvPr>
        </p:nvSpPr>
        <p:spPr/>
        <p:txBody>
          <a:bodyPr/>
          <a:lstStyle/>
          <a:p>
            <a:pPr/>
            <a:r>
              <a:t>Low impact, low effort</a:t>
            </a:r>
          </a:p>
          <a:p>
            <a:pPr lvl="1"/>
            <a:r>
              <a:t>Template refresh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/>
        <p:txBody>
          <a:bodyPr/>
          <a:lstStyle/>
          <a:p>
            <a:pPr/>
            <a:r>
              <a:t>Low impact, high effort</a:t>
            </a:r>
          </a:p>
          <a:p>
            <a:pPr lvl="1"/>
            <a:r>
              <a:t>Custom integrations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Due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Confirm regional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Alex Morgan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31 Oct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Approve 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Jordan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7 Nov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Publish training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Casey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14 Oct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Criterion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Vendor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Vendor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Vendor C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Five-year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£1.2m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£0.9m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£1.1m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Time to deploy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9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 months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8 months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Security certification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Pending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costs (£k)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Line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Actual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Forecast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1,240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1,260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-40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640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330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2,170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2,150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2,230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57200">
                <a:tc>
                  <a:txBody>
                    <a:bodyPr/>
                    <a:lstStyle/>
                    <a:p>
                      <a:r>
                        <a:rPr sz="1200"/>
                        <a:t>Workstream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Dec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Jan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Owner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Taylor Chen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Riley Okafor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Sam Rivera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/>
                        <a:t>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/>
                        <a:t>Alex Morgan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Speaker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Room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09:00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Welcome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Alex Morgan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Hall 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09:30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Market 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Taylor Chen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Hall 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11:00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Workshops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Various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Rooms 1 to 4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13:00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/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Atrium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 (RACI)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Operations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Set pricing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Forecast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Plan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A/R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Report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A/R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register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Likelihood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Supplier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Second supplier on standby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Sam Rivera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Data migration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Two trial migrations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Riley Okafor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Low adoption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Training and champions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Casey Brown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and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Status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Login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Riley Okafor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18 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Open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Update user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Casey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25 Oct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In progress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Licence renewal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Jordan Singh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 Nov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Complete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ph idx="1"/>
          </p:nvPr>
        </p:nvGraphicFramePr>
        <p:xfrm>
          <a:off x="548640" y="141732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r>
                        <a:rPr sz="14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Due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Approve phase two 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Steering 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31 Oct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Confirm pilot sites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Taylor Chen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7 Nov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Start staff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Casey Brown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14 Nov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/>
                        <a:t>Report progress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Alex Morgan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5 Dec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Alex Morgan, Head of Data</a:t>
            </a:r>
          </a:p>
          <a:p>
            <a:pPr/>
            <a:r>
              <a:t>alex.morgan@example.com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and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   Customer survey, September 2026, 1,240 responses</a:t>
            </a:r>
          </a:p>
          <a:p>
            <a:pPr/>
            <a:r>
              <a:t>2   Finance ledger, fiscal year 2026 to date</a:t>
            </a:r>
          </a:p>
          <a:p>
            <a:pPr/>
            <a:r>
              <a:t>Figures are unaudited.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Plain fallback">
  <a:themeElements>
    <a:clrScheme name="Plain fallback">
      <a:dk1>
        <a:srgbClr val="1B2A3A"/>
      </a:dk1>
      <a:lt1>
        <a:srgbClr val="FFFFFF"/>
      </a:lt1>
      <a:dk2>
        <a:srgbClr val="44546A"/>
      </a:dk2>
      <a:lt2>
        <a:srgbClr val="EEF2F5"/>
      </a:lt2>
      <a:accent1>
        <a:srgbClr val="2F6FD0"/>
      </a:accent1>
      <a:accent2>
        <a:srgbClr val="1B2A3A"/>
      </a:accent2>
      <a:accent3>
        <a:srgbClr val="2E8B57"/>
      </a:accent3>
      <a:accent4>
        <a:srgbClr val="C26A1E"/>
      </a:accent4>
      <a:accent5>
        <a:srgbClr val="8A3FA0"/>
      </a:accent5>
      <a:accent6>
        <a:srgbClr val="5B6B7C"/>
      </a:accent6>
      <a:hlink>
        <a:srgbClr val="2F6FD0"/>
      </a:hlink>
      <a:folHlink>
        <a:srgbClr val="8A3FA0"/>
      </a:folHlink>
    </a:clrScheme>
    <a:fontScheme name="Plain fallback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fallback PowerPoint layouts</dc:title>
  <dc:subject>28 opt-in layouts with 100 example slides</dc:subject>
  <dc:creator>brand-faithful-pptx</dc:creator>
  <cp:keywords/>
  <dc:description>Fallback layouts require explicit user approval before use.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